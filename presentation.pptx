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7C3AED"/>
                </a:solidFill>
                <a:latin typeface="맑은 고딕"/>
              </a:defRPr>
            </a:pPr>
            <a:r>
              <a:t>MindTune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6B7280"/>
                </a:solidFill>
                <a:latin typeface="맑은 고딕"/>
              </a:defRPr>
            </a:pPr>
            <a:r>
              <a:t>AI 기반 음악 심리 케어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B7280"/>
                </a:solidFill>
                <a:latin typeface="맑은 고딕"/>
              </a:defRPr>
            </a:pPr>
            <a:r>
              <a:t>Tool-Calling ReAct Agent  |  하이브리드 검색 (벡터 + BM25)  |  동질 원리 플레이리스트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B7280"/>
                </a:solidFill>
                <a:latin typeface="맑은 고딕"/>
              </a:defRPr>
            </a:pPr>
            <a:r>
              <a:t>2026.04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1B69"/>
                </a:solidFill>
                <a:latin typeface="맑은 고딕"/>
              </a:defRPr>
            </a:pPr>
            <a:r>
              <a:t>왜 음악 심리 케어인가?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회사 도메인 연결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의료AI + 에이전틱 AI + 멀티모달 데이터 플랫폼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ACTIC LLM 운영 솔루션 → 에이전트 기반 AX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데이터셋의 의도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'Songs, Ragas, Mental Health Classification'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Mental_Health_Label 컬럼에 Anxiety, Depression, PTSD 등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음악치료 임상 근거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코크란 체계적 고찰: 우울 증상 감소 효과 입증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음악 청취 시 도파민 분비 → 정서적 안정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1B69"/>
                </a:solidFill>
                <a:latin typeface="맑은 고딕"/>
              </a:defRPr>
            </a:pPr>
            <a:r>
              <a:t>음악치료와 동질 원리 (ISO Principle)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동질 원리란?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현재 감정과 유사한 음악에서 시작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점진적으로 목표 감정으로 이동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감정 변화를 유도하는 플레이리스트 구성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MindTune 적용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- 2D 감정 공간 (Valence + Energy)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유클리드 거리 기반 곡 순서 배열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예: 우울(V=0.2, E=0.3) → 중립(V=0.5, E=0.5) → 긍정(V=0.7, E=0.6)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371600"/>
            <a:ext cx="4572000" cy="411480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B7280"/>
                </a:solidFill>
                <a:latin typeface="맑은 고딕"/>
              </a:defRPr>
            </a:pPr>
            <a:r>
              <a:t>[동질 원리 다이어그램]</a:t>
            </a:r>
            <a:br/>
            <a:r>
              <a:t>현재 감정 → 중립 → 목표 감정</a:t>
            </a:r>
            <a:br/>
            <a:r>
              <a:t>valence/energy 2D 좌표계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1B69"/>
                </a:solidFill>
                <a:latin typeface="맑은 고딕"/>
              </a:defRPr>
            </a:pPr>
            <a:r>
              <a:t>데이터셋 EDA: 32,833곡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데이터 정제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원본 32,833곡 → track_id 중복 제거 → track_name+artist 중복 제거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최종 26,229곡 (결측값 1건 추가 제거)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핵심 발견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- 6개 장르 균등 분포 (EDM/Rap/Pop/R&amp;B/Latin/Rock)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MH 라벨 극심한 불균형: Depression 138곡, PTSD 38곡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- 11개 오디오 피처 + Mental Health Label 활용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B7280"/>
                </a:solidFill>
                <a:latin typeface="맑은 고딕"/>
              </a:defRPr>
            </a:pPr>
            <a:r>
              <a:t>[EDA 캡처 삽입]</a:t>
            </a:r>
            <a:br/>
            <a:r>
              <a:t>레이더차트 / MH 라벨 분포 바차트 / 감정 공간 산점도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1B69"/>
                </a:solidFill>
                <a:latin typeface="맑은 고딕"/>
              </a:defRPr>
            </a:pPr>
            <a:r>
              <a:t>EDA 인사이트 → 설계 의사결정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MH 라벨 불균형 (Depression 138곡)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→ 라벨 필터만으론 부족 → 오디오 피처 기반 검색으로 보완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감정-피처 상관관계 (Mann-Whitney U 검정)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→ 감정별 valence/energy/acousticness 유의차 확인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→ 감정-피처 매핑 가이드 설계 (7개 감정 × 4개 피처)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장르별 피처 프로파일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→ 장르 간 코사인 유사도 분석 → 상황 프리셋 7종 설계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유사곡 시뮬레이션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→ 벡터 단독 검색 한계 발견 → 하이브리드 검색 도입 결정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1B69"/>
                </a:solidFill>
                <a:latin typeface="맑은 고딕"/>
              </a:defRPr>
            </a:pPr>
            <a:r>
              <a:t>시스템 아키텍처: 3-Agent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Gate Agent (라우터 + 안전장치)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키워드 규칙 → LLM 분류 → 체이닝 폴백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위험 신호 즉시 감지 (LLM 호출 생략)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Music Agent (ReAct 루프)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- 6개 도구 자율 선택 (tool_choice=auto)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최대 7회 반복, Thinking Mode 동적 전환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Self-Verification + 폴백 응답 생성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Care Agent (공감 응답)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intent별 케어 강도 차별화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출력 가드레일 (의료 표현 필터링)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+ Spotify 검색 병렬 실행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B7280"/>
                </a:solidFill>
                <a:latin typeface="맑은 고딕"/>
              </a:defRPr>
            </a:pPr>
            <a:r>
              <a:t>[시스템 아키텍처 다이어그램]</a:t>
            </a:r>
            <a:br/>
            <a:r>
              <a:t>Gate → Music Agent(ReAct) → Care + Spotify 병렬</a:t>
            </a:r>
            <a:br/>
            <a:r>
              <a:t>6개 도구 목록 포함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1B69"/>
                </a:solidFill>
                <a:latin typeface="맑은 고딕"/>
              </a:defRPr>
            </a:pPr>
            <a:r>
              <a:t>하이브리드 검색 엔진: 벡터 + BM25 + 피처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3중 검색 구조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1. 벡터 검색 (sentence-transformers → ChromaDB)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   의미적 유사도 기반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2. BM25 키워드 검색 (rank_bm25)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   정확한 키워드 매칭 보완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3. 피처 검색 (Pandas + 코사인 유사도)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   수치 범위 필터링 + 7개 피처 벡터 랭킹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하이브리드 점수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final = 0.6 × vector + 0.4 × BM25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리랭커 가중치 (intent별 차별화)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emotion:  피처 60% | 벡터 30% | 인기도 10%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situation: 피처 50% | 벡터 40% | 인기도 10%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similar:  벡터 50% | 피처 40% | 인기도 10%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B7280"/>
                </a:solidFill>
                <a:latin typeface="맑은 고딕"/>
              </a:defRPr>
            </a:pPr>
            <a:r>
              <a:t>[하이브리드 검색 다이어그램]</a:t>
            </a:r>
            <a:br/>
            <a:r>
              <a:t>사용자 쿼리 → 벡터/BM25/피처 → 리랭커 → 최종 결과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1B69"/>
                </a:solidFill>
                <a:latin typeface="맑은 고딕"/>
              </a:defRPr>
            </a:pPr>
            <a:r>
              <a:t>데모 1: 감정 기반 추천 — "오늘 너무 우울해"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처리 흐름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1. Gate: emotion 분류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2. Music: search_by_features(valence=[0.1,0.3])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   → rerank → build_iso_playlist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3. Care: 공감 메시지 + 동질 원리 설명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4. Spotify: 임베드 플레이어 제공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동질 원리 적용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현재(V=0.15, E=0.25) → 중립 → 긍정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097280"/>
            <a:ext cx="5486400" cy="320040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B7280"/>
                </a:solidFill>
                <a:latin typeface="맑은 고딕"/>
              </a:defRPr>
            </a:pPr>
            <a:r>
              <a:t>[캡처 삽입]</a:t>
            </a:r>
            <a:br/>
            <a:r>
              <a:t>감정 추천 결과</a:t>
            </a:r>
            <a:br/>
            <a:r>
              <a:t>곡 카드 + Spotify 플레이어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4572000"/>
            <a:ext cx="5486400" cy="182880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B7280"/>
                </a:solidFill>
                <a:latin typeface="맑은 고딕"/>
              </a:defRPr>
            </a:pPr>
            <a:r>
              <a:t>[캡처 삽입] 사이드바 감정 변화 그래프 (plotly scatter)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1B69"/>
                </a:solidFill>
                <a:latin typeface="맑은 고딕"/>
              </a:defRPr>
            </a:pPr>
            <a:r>
              <a:t>데모 2: 상황 맞춤 BGM — "카페에서 책 읽을 때"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처리 흐름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1. Gate: situation 분류 (키워드 규칙, LLM 생략)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2. Music: 프리셋 매칭 → search_by_description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   → search_by_features → rerank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3. Care: 가벼운 상황 코멘트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대기 중 UX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데이터셋 서브장르 랜덤 트렌딩 Top 3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Spotify 임베드로 바로 재생 가능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097280"/>
            <a:ext cx="5486400" cy="502920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B7280"/>
                </a:solidFill>
                <a:latin typeface="맑은 고딕"/>
              </a:defRPr>
            </a:pPr>
            <a:r>
              <a:t>[캡처 삽입]</a:t>
            </a:r>
            <a:br/>
            <a:r>
              <a:t>상황 BGM 추천 결과 + 트렌딩 카드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1B69"/>
                </a:solidFill>
                <a:latin typeface="맑은 고딕"/>
              </a:defRPr>
            </a:pPr>
            <a:r>
              <a:t>데모 3: 유사곡 탐색 — "Coldplay Yellow 같은 곡"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처리 흐름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1. Gate: similar 분류 (키워드 규칙)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2. Music: lookup_song(Yellow)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   → search_by_features + search_by_description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   → rerank(intent=similar, vector 50%)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3. Spotify 연동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에이전트 로그 (토글)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각 답변 아래 도구 호출 순서/파라미터 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097280"/>
            <a:ext cx="5486400" cy="502920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B7280"/>
                </a:solidFill>
                <a:latin typeface="맑은 고딕"/>
              </a:defRPr>
            </a:pPr>
            <a:r>
              <a:t>[캡처 삽입]</a:t>
            </a:r>
            <a:br/>
            <a:r>
              <a:t>유사곡 결과 + 에이전트 로그 토글 펼친 모습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1B69"/>
                </a:solidFill>
                <a:latin typeface="맑은 고딕"/>
              </a:defRPr>
            </a:pPr>
            <a:r>
              <a:t>Troubleshooting: 검색 품질 개선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66360" cy="10972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4444"/>
                </a:solidFill>
                <a:latin typeface="맑은 고딕"/>
              </a:defRPr>
            </a:pPr>
            <a:r>
              <a:t>AS-IS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임베딩: energy/valence 2개만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→ 벡터 검색이 다른 피처 구분 불가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371600"/>
            <a:ext cx="5166360" cy="10972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TO-BE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11개 피처 5단계 키워드 + 수치값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→ 모든 피처가 벡터 공간에 반영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166360" cy="10972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4444"/>
                </a:solidFill>
                <a:latin typeface="맑은 고딕"/>
              </a:defRPr>
            </a:pPr>
            <a:r>
              <a:t>AS-IS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sentence-transformers 단독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→ 키워드 정확 매칭 부족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2743200"/>
            <a:ext cx="5166360" cy="10972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TO-BE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BM25 하이브리드 도입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→ 0.6*벡터 + 0.4*BM25 융합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66360" cy="10972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4444"/>
                </a:solidFill>
                <a:latin typeface="맑은 고딕"/>
              </a:defRPr>
            </a:pPr>
            <a:r>
              <a:t>AS-IS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popularity 가중치 0.1 고정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→ '유명한 곡' 요청 미반영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4114800"/>
            <a:ext cx="5166360" cy="10972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TO-BE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키워드 감지 시 동적 상향 (0.1→0.4)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→ '유명', '인기', '히트' 등 감지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5166360" cy="10972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4444"/>
                </a:solidFill>
                <a:latin typeface="맑은 고딕"/>
              </a:defRPr>
            </a:pPr>
            <a:r>
              <a:t>AS-IS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ChromaDB 메타데이터 3개 피처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→ 필터링 제한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5486400"/>
            <a:ext cx="5166360" cy="10972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TO-BE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11개 오디오 피처 전체 저장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→ 모든 피처로 메타데이터 필터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1B69"/>
                </a:solidFill>
                <a:latin typeface="맑은 고딕"/>
              </a:defRPr>
            </a:pPr>
            <a:r>
              <a:t>Troubleshooting: 성능 &amp; 안정성 개선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66360" cy="10972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4444"/>
                </a:solidFill>
                <a:latin typeface="맑은 고딕"/>
              </a:defRPr>
            </a:pPr>
            <a:r>
              <a:t>AS-IS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Gate Agent: 매번 LLM 호출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→ 분류에 ~1초 소요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371600"/>
            <a:ext cx="5166360" cy="10972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TO-BE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키워드 규칙 사전 분류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→ similar/situation은 LLM 호출 생략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166360" cy="10972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4444"/>
                </a:solidFill>
                <a:latin typeface="맑은 고딕"/>
              </a:defRPr>
            </a:pPr>
            <a:r>
              <a:t>AS-IS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대화 전체를 LLM에 전달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→ 토큰 낭비 + 컨텍스트 오염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2743200"/>
            <a:ext cx="5166360" cy="10972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TO-BE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Sliding Window 4턴(8메시지)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+ 5턴마다 자동 요약 → ~90% 토큰 절약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66360" cy="10972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4444"/>
                </a:solidFill>
                <a:latin typeface="맑은 고딕"/>
              </a:defRPr>
            </a:pPr>
            <a:r>
              <a:t>AS-IS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Care Agent: enable_thinking=False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→ LLM content=None 반환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4114800"/>
            <a:ext cx="5166360" cy="10972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TO-BE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옵션 제거 + &lt;think&gt; 코드 처리</a:t>
            </a:r>
          </a:p>
          <a:p>
            <a:pPr>
              <a:defRPr sz="1100">
                <a:solidFill>
                  <a:srgbClr val="1A1A2E"/>
                </a:solidFill>
                <a:latin typeface="맑은 고딕"/>
              </a:defRPr>
            </a:pPr>
            <a:r>
              <a:t>+ reasoning_content 폴백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515600" cy="109728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B7280"/>
                </a:solidFill>
                <a:latin typeface="맑은 고딕"/>
              </a:defRPr>
            </a:pPr>
            <a:r>
              <a:t>[캡처 삽입] intent별 진행 메시지 변화</a:t>
            </a:r>
            <a:br/>
            <a:r>
              <a:t>"감정에 어울리는 곡을 찾고 있어요..."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1B69"/>
                </a:solidFill>
                <a:latin typeface="맑은 고딕"/>
              </a:defRPr>
            </a:pPr>
            <a:r>
              <a:t>안전장치 &amp; 품질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입력 안전 체크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- 9개 위험 키워드 사전 감지 (LLM 호출 없이)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긴급: 정신건강 위기상담 1577-0199, 자살예방 1393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범위 외 질문 → 서비스 안내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출력 가드레일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금지 표현 6종 자동 필터링 (치료, 진단, 처방 등)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Care Agent 스킵 시에도 orchestrator에서 보장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할루시네이션 방지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Self-Verification: 추천 곡 DB 존재 확인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Grounded Generation: 데이터셋 외 곡 생성 금지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평가 시스템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자동: 할루시네이션/Intent 정확도/Spotify 매칭/Latency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수동: Streamlit 평가 UI (1~5점)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B7280"/>
                </a:solidFill>
                <a:latin typeface="맑은 고딕"/>
              </a:defRPr>
            </a:pPr>
            <a:r>
              <a:t>[캡처 삽입]</a:t>
            </a:r>
            <a:br/>
            <a:r>
              <a:t>위기 감지 응답</a:t>
            </a:r>
            <a:br/>
            <a:r>
              <a:t>("죽고 싶어" → 상담 전화 안내)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1B69"/>
                </a:solidFill>
                <a:latin typeface="맑은 고딕"/>
              </a:defRPr>
            </a:pPr>
            <a:r>
              <a:t>한계점 &amp; 확장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정직한 한계점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- 4B 소형 모델의 Tool Calling 정확도 한계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Mental Health Label 불균형 (Depression 138곡)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Spotify 검색 매칭률 한계 (데이터셋 곡 ≠ Spotify)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전문 음악치료를 대체하지 않는 보조 도구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확장 방향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PHR(개인건강기록) 연동: 수면/운동 데이터 기반 맞춤 추천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ACTIC 플랫폼 배포: 에이전트별 독립 스케일링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MCP 프로토콜 도입: Apple Music, YouTube Music 추가 연동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맑은 고딕"/>
              </a:defRPr>
            </a:pPr>
            <a:r>
              <a:t>  - A/B 테스트: 리랭커 가중치, 프롬프트 자동 실험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7C3AED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B7280"/>
                </a:solidFill>
                <a:latin typeface="맑은 고딕"/>
              </a:defRPr>
            </a:pPr>
            <a:r>
              <a:t>기술 스택</a:t>
            </a:r>
          </a:p>
          <a:p>
            <a:pPr>
              <a:spcAft>
                <a:spcPts val="800"/>
              </a:spcAft>
              <a:defRPr sz="1600">
                <a:solidFill>
                  <a:srgbClr val="6B7280"/>
                </a:solidFill>
                <a:latin typeface="맑은 고딕"/>
              </a:defRPr>
            </a:pPr>
            <a:r>
              <a:t>Python  |  Streamlit  |  OpenAI-compatible API  |  ChromaDB + sentence-transformers + BM25</a:t>
            </a:r>
          </a:p>
          <a:p>
            <a:pPr>
              <a:spcAft>
                <a:spcPts val="800"/>
              </a:spcAft>
              <a:defRPr sz="1600">
                <a:solidFill>
                  <a:srgbClr val="6B7280"/>
                </a:solidFill>
                <a:latin typeface="맑은 고딕"/>
              </a:defRPr>
            </a:pPr>
            <a:r>
              <a:t>Spotify Web API  |  SQLite  |  Plotly  | 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